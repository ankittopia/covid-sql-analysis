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58" r:id="rId4"/>
    <p:sldId id="259" r:id="rId5"/>
    <p:sldId id="263" r:id="rId6"/>
    <p:sldId id="261" r:id="rId7"/>
  </p:sldIdLst>
  <p:sldSz cx="7315200" cy="7315200"/>
  <p:notesSz cx="73152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6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Death %</c:v>
                </c:pt>
              </c:strCache>
            </c:strRef>
          </c:tx>
          <c:spPr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Jan'20</c:v>
                </c:pt>
                <c:pt idx="1">
                  <c:v>Feb'20</c:v>
                </c:pt>
                <c:pt idx="2">
                  <c:v>Mar'20</c:v>
                </c:pt>
                <c:pt idx="3">
                  <c:v>Apr'20</c:v>
                </c:pt>
                <c:pt idx="4">
                  <c:v>May'20</c:v>
                </c:pt>
                <c:pt idx="5">
                  <c:v>Jun'20</c:v>
                </c:pt>
                <c:pt idx="6">
                  <c:v>Jul'20</c:v>
                </c:pt>
                <c:pt idx="7">
                  <c:v>Aug'20</c:v>
                </c:pt>
                <c:pt idx="8">
                  <c:v>Sep'20</c:v>
                </c:pt>
                <c:pt idx="9">
                  <c:v>Oct'20</c:v>
                </c:pt>
                <c:pt idx="10">
                  <c:v>Nov'20</c:v>
                </c:pt>
                <c:pt idx="11">
                  <c:v>Dec'20</c:v>
                </c:pt>
                <c:pt idx="12">
                  <c:v>Jan'21</c:v>
                </c:pt>
                <c:pt idx="13">
                  <c:v>Feb'21</c:v>
                </c:pt>
                <c:pt idx="14">
                  <c:v>Mar'21</c:v>
                </c:pt>
                <c:pt idx="15">
                  <c:v>Apr'21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2.17</c:v>
                </c:pt>
                <c:pt idx="1">
                  <c:v>3.58</c:v>
                </c:pt>
                <c:pt idx="2">
                  <c:v>6.46</c:v>
                </c:pt>
                <c:pt idx="3">
                  <c:v>6.13</c:v>
                </c:pt>
                <c:pt idx="4">
                  <c:v>5.99</c:v>
                </c:pt>
                <c:pt idx="5">
                  <c:v>4.83</c:v>
                </c:pt>
                <c:pt idx="6">
                  <c:v>3.37</c:v>
                </c:pt>
                <c:pt idx="7">
                  <c:v>3.05</c:v>
                </c:pt>
                <c:pt idx="8">
                  <c:v>2.86</c:v>
                </c:pt>
                <c:pt idx="9">
                  <c:v>2.5299999999999998</c:v>
                </c:pt>
                <c:pt idx="10">
                  <c:v>1.98</c:v>
                </c:pt>
                <c:pt idx="11">
                  <c:v>1.75</c:v>
                </c:pt>
                <c:pt idx="12">
                  <c:v>1.71</c:v>
                </c:pt>
                <c:pt idx="13">
                  <c:v>1.8</c:v>
                </c:pt>
                <c:pt idx="14">
                  <c:v>1.81</c:v>
                </c:pt>
                <c:pt idx="15">
                  <c:v>1.78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C48-4FDA-AFE7-8CC66951C2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1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92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586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COVID-19 DATA ANALYSIS  ·  SQL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051560"/>
            <a:ext cx="6583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Did vaccination</a:t>
            </a:r>
            <a:endParaRPr lang="en-US" sz="4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actually reduce</a:t>
            </a:r>
            <a:endParaRPr lang="en-US" sz="4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COVID deaths?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743200" y="4160520"/>
            <a:ext cx="18288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34340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0A4AE"/>
                </a:solidFill>
              </a:rPr>
              <a:t>I analysed 85,000+ rows of global COVID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90A4AE"/>
                </a:solidFill>
              </a:rPr>
              <a:t>data using SQL to find out.</a:t>
            </a:r>
            <a:endParaRPr lang="en-US" b="1" dirty="0"/>
          </a:p>
        </p:txBody>
      </p:sp>
      <p:sp>
        <p:nvSpPr>
          <p:cNvPr id="6" name="Text 4"/>
          <p:cNvSpPr/>
          <p:nvPr/>
        </p:nvSpPr>
        <p:spPr>
          <a:xfrm>
            <a:off x="365760" y="52120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77B6"/>
                </a:solidFill>
              </a:rPr>
              <a:t>Dataset: Our World in Data  (OWID)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5852160"/>
            <a:ext cx="274320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5852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Swipe to see findings  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67208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566"/>
                </a:solidFill>
              </a:rPr>
              <a:t>[ Ankit Topia ]  |  Aspiring Data Analyst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ADF65-C95A-3A7A-AAAE-5ED2094FE5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7315200" cy="42702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6D7071-B00B-7A1D-A9DF-B4D5002C5FA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0" y="4389120"/>
            <a:ext cx="73152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Global Scale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Jan 2020 – Apr 2021  ·  200+ Countries  ·  Source: Our World in Data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57400" cy="132588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52728"/>
            <a:ext cx="2057400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D16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150.5M+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938528"/>
            <a:ext cx="2057400" cy="477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0A4A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Cases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0A4A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(Jan 2020 - Apr 2021)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14600" y="1143000"/>
            <a:ext cx="2057400" cy="132588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252728"/>
            <a:ext cx="2057400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6B6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3.18M+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14600" y="1938528"/>
            <a:ext cx="2057400" cy="477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0A4A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Deaths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0A4A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(Jan 2020 - Apr 2021)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2057400" cy="132588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52728"/>
            <a:ext cx="2057400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2.11%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1938528"/>
            <a:ext cx="2057400" cy="477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0A4A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 Global Death 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633472"/>
            <a:ext cx="6537960" cy="749808"/>
          </a:xfrm>
          <a:prstGeom prst="rect">
            <a:avLst/>
          </a:prstGeom>
          <a:solidFill>
            <a:srgbClr val="0A2A3A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70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0A4A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Peak Global Death %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6B6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6.46%  in March 2020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66160" y="278892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↓  Dropped to 1.78% by Apr 2021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Chart 0"/>
          <p:cNvGraphicFramePr/>
          <p:nvPr/>
        </p:nvGraphicFramePr>
        <p:xfrm>
          <a:off x="274320" y="3547872"/>
          <a:ext cx="65379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6217920" y="69037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A7FA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/ 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Country-Level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Highest Infection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</a:rPr>
              <a:t>Andorra infected 18%+ of its population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6537960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78892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Highest Total Death Count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</a:rPr>
              <a:t>USA recorded the highest deaths globally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66160"/>
            <a:ext cx="6537960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4480560"/>
            <a:ext cx="640080" cy="6400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480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Most Lethal Death 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8006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</a:rPr>
              <a:t>Yemen — 19%+ chance of dying if infected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6263640"/>
            <a:ext cx="6537960" cy="411480"/>
          </a:xfrm>
          <a:prstGeom prst="rect">
            <a:avLst/>
          </a:prstGeom>
          <a:solidFill>
            <a:srgbClr val="E1F0F7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6263640"/>
            <a:ext cx="653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</a:rPr>
              <a:t>SQL used →  MAX()  ·  GROUP BY  ·  HAVING  ·  WHERE continent IS NOT NULL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India's COVID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Death % tracked month-by-month using SQL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057400" cy="3474720"/>
          </a:xfrm>
          <a:prstGeom prst="rect">
            <a:avLst/>
          </a:prstGeom>
          <a:solidFill>
            <a:srgbClr val="0A20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25880"/>
            <a:ext cx="205740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Jan – Jun 2020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6B6B"/>
                </a:solidFill>
              </a:rPr>
              <a:t>2.95%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4320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Death 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54787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F"/>
                </a:solidFill>
              </a:rPr>
              <a:t>First wave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8FAF"/>
                </a:solidFill>
              </a:rPr>
              <a:t>Limited testing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325880"/>
            <a:ext cx="2057400" cy="3474720"/>
          </a:xfrm>
          <a:prstGeom prst="rect">
            <a:avLst/>
          </a:prstGeom>
          <a:solidFill>
            <a:srgbClr val="0A203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325880"/>
            <a:ext cx="2057400" cy="411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3258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18288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Jul – Dec 2020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2860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D166"/>
                </a:solidFill>
              </a:rPr>
              <a:t>1.53%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560320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Death 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54787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F"/>
                </a:solidFill>
              </a:rPr>
              <a:t>Second wave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8FAF"/>
                </a:solidFill>
              </a:rPr>
              <a:t>Deadliest peak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2057400" cy="3474720"/>
          </a:xfrm>
          <a:prstGeom prst="rect">
            <a:avLst/>
          </a:prstGeom>
          <a:solidFill>
            <a:srgbClr val="0A203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325880"/>
            <a:ext cx="20574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3258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Phase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18288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Jan – Apr 2021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2860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</a:rPr>
              <a:t>1.28%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846320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Death 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54787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F"/>
                </a:solidFill>
              </a:rPr>
              <a:t>With vaccination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8FAF"/>
                </a:solidFill>
              </a:rPr>
              <a:t>Steady decline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4560" y="2606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4AE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480560" y="2606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4AE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74320" y="5029200"/>
            <a:ext cx="6537960" cy="685800"/>
          </a:xfrm>
          <a:prstGeom prst="rect">
            <a:avLst/>
          </a:prstGeom>
          <a:solidFill>
            <a:srgbClr val="0A2A3A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02920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</a:rPr>
              <a:t>Second phase was 2× deadlier per case than the post-vaccination period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" y="5943600"/>
            <a:ext cx="653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77B6"/>
                </a:solidFill>
              </a:rPr>
              <a:t>SQL used →  DATE_FORMAT()  ·  YEAR()  ·  MONTH()  ·  Single country filter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47472"/>
            <a:ext cx="7315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Did Vaccination Save Lives?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0" y="320040"/>
            <a:ext cx="196596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320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YES — The data says so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291840" cy="5166360"/>
          </a:xfrm>
          <a:prstGeom prst="rect">
            <a:avLst/>
          </a:prstGeom>
          <a:solidFill>
            <a:srgbClr val="E8F8F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BIGGEST REDUCTION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566"/>
                </a:solidFill>
              </a:rPr>
              <a:t>Deaths fell the most post-vaccination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4D8"/>
                </a:solidFill>
              </a:rPr>
              <a:t>57.6%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566"/>
                </a:solidFill>
              </a:rPr>
              <a:t>India's death reduction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5566"/>
                </a:solidFill>
              </a:rPr>
              <a:t>post vaccination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200400"/>
            <a:ext cx="2834640" cy="0"/>
          </a:xfrm>
          <a:prstGeom prst="line">
            <a:avLst/>
          </a:prstGeom>
          <a:noFill/>
          <a:ln w="6350">
            <a:solidFill>
              <a:srgbClr val="C8E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918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A4AE"/>
                </a:solidFill>
              </a:rPr>
              <a:t>Country-wise reductions: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639312"/>
            <a:ext cx="3017520" cy="438912"/>
          </a:xfrm>
          <a:prstGeom prst="rect">
            <a:avLst/>
          </a:prstGeom>
          <a:solidFill>
            <a:srgbClr val="D0F0EA"/>
          </a:solidFill>
          <a:ln w="6350">
            <a:solidFill>
              <a:srgbClr val="B0E0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3931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Iraq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63931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4B6"/>
                </a:solidFill>
              </a:rPr>
              <a:t>↓ 79.3%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187952"/>
            <a:ext cx="3017520" cy="438912"/>
          </a:xfrm>
          <a:prstGeom prst="rect">
            <a:avLst/>
          </a:prstGeom>
          <a:solidFill>
            <a:srgbClr val="D0F0EA"/>
          </a:solidFill>
          <a:ln w="6350">
            <a:solidFill>
              <a:srgbClr val="B0E0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879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Belgium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418795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4B6"/>
                </a:solidFill>
              </a:rPr>
              <a:t>↓ 75.9%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736592"/>
            <a:ext cx="3017520" cy="438912"/>
          </a:xfrm>
          <a:prstGeom prst="rect">
            <a:avLst/>
          </a:prstGeom>
          <a:solidFill>
            <a:srgbClr val="D0F0EA"/>
          </a:solidFill>
          <a:ln w="6350">
            <a:solidFill>
              <a:srgbClr val="B0E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73659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Iran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473659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4B6"/>
                </a:solidFill>
              </a:rPr>
              <a:t>↓ 70.0%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5285232"/>
            <a:ext cx="3017520" cy="438912"/>
          </a:xfrm>
          <a:prstGeom prst="rect">
            <a:avLst/>
          </a:prstGeom>
          <a:solidFill>
            <a:srgbClr val="D0F0EA"/>
          </a:solidFill>
          <a:ln w="6350">
            <a:solidFill>
              <a:srgbClr val="B0E0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28523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India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528523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4B6"/>
                </a:solidFill>
              </a:rPr>
              <a:t>↓ 57.6%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49040" y="1005840"/>
            <a:ext cx="3291840" cy="5166360"/>
          </a:xfrm>
          <a:prstGeom prst="rect">
            <a:avLst/>
          </a:prstGeom>
          <a:solidFill>
            <a:srgbClr val="FFF0F0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10058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</a:rPr>
              <a:t>LEAST IMPROVED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14813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566"/>
                </a:solidFill>
              </a:rPr>
              <a:t>Deaths barely fell despite rollout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49040" y="1828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63946"/>
                </a:solidFill>
              </a:rPr>
              <a:t>8.2%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3840480" y="2697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566"/>
                </a:solidFill>
              </a:rPr>
              <a:t>Russia's death reduction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5566"/>
                </a:solidFill>
              </a:rPr>
              <a:t>(slowest rollout impact)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31920" y="3200400"/>
            <a:ext cx="2834640" cy="0"/>
          </a:xfrm>
          <a:prstGeom prst="line">
            <a:avLst/>
          </a:prstGeom>
          <a:noFill/>
          <a:ln w="6350">
            <a:solidFill>
              <a:srgbClr val="F5C0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32918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A4AE"/>
                </a:solidFill>
              </a:rPr>
              <a:t>Country-wise reductions: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40480" y="3639312"/>
            <a:ext cx="3017520" cy="438912"/>
          </a:xfrm>
          <a:prstGeom prst="rect">
            <a:avLst/>
          </a:prstGeom>
          <a:solidFill>
            <a:srgbClr val="FFD6D6"/>
          </a:solidFill>
          <a:ln w="6350">
            <a:solidFill>
              <a:srgbClr val="FFBB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363931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Russia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363931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63946"/>
                </a:solidFill>
              </a:rPr>
              <a:t>↓ 7.6%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840480" y="4187952"/>
            <a:ext cx="3017520" cy="438912"/>
          </a:xfrm>
          <a:prstGeom prst="rect">
            <a:avLst/>
          </a:prstGeom>
          <a:solidFill>
            <a:srgbClr val="FFD6D6"/>
          </a:solidFill>
          <a:ln w="6350">
            <a:solidFill>
              <a:srgbClr val="FFBBB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41879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South Africa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77840" y="418795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63946"/>
                </a:solidFill>
              </a:rPr>
              <a:t>↓ 9.1%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840480" y="4736592"/>
            <a:ext cx="3017520" cy="438912"/>
          </a:xfrm>
          <a:prstGeom prst="rect">
            <a:avLst/>
          </a:prstGeom>
          <a:solidFill>
            <a:srgbClr val="FFD6D6"/>
          </a:solidFill>
          <a:ln w="6350">
            <a:solidFill>
              <a:srgbClr val="FFBB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0" y="473659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Turkey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77840" y="473659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63946"/>
                </a:solidFill>
              </a:rPr>
              <a:t>↓ 7.8%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91840" y="2377440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6355080"/>
            <a:ext cx="676656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35508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"Among high-impact countries with above-average 2020 deaths, every single one saw deaths fall post-vaccination— avg 40% reduction"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4320" y="69768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77B6"/>
                </a:solidFill>
              </a:rPr>
              <a:t>SQL used  →  JOIN  ·  CTE  ·  CASE WHEN  ·  YEAR()  ·  Subquery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 Built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3246120" cy="868680"/>
          </a:xfrm>
          <a:prstGeom prst="rect">
            <a:avLst/>
          </a:prstGeom>
          <a:solidFill>
            <a:srgbClr val="0A2030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Aggregations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99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SUM · MAX · AVG · ROUND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94760" y="960120"/>
            <a:ext cx="3246120" cy="868680"/>
          </a:xfrm>
          <a:prstGeom prst="rect">
            <a:avLst/>
          </a:prstGeom>
          <a:solidFill>
            <a:srgbClr val="0A2030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0" y="960120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0241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Joins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1399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JOIN on location + date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3246120" cy="868680"/>
          </a:xfrm>
          <a:prstGeom prst="rect">
            <a:avLst/>
          </a:prstGeom>
          <a:solidFill>
            <a:srgbClr val="0A2030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11680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75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Window Fn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450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SUM() OVER PARTITION BY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94760" y="2011680"/>
            <a:ext cx="3246120" cy="868680"/>
          </a:xfrm>
          <a:prstGeom prst="rect">
            <a:avLst/>
          </a:prstGeom>
          <a:solidFill>
            <a:srgbClr val="0A2030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2011680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2075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2450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WITH clause — cleaner logic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3246120" cy="868680"/>
          </a:xfrm>
          <a:prstGeom prst="rect">
            <a:avLst/>
          </a:prstGeom>
          <a:solidFill>
            <a:srgbClr val="0A2030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63240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27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DENSE_RANK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502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Ranking vaccinations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94760" y="3063240"/>
            <a:ext cx="3246120" cy="868680"/>
          </a:xfrm>
          <a:prstGeom prst="rect">
            <a:avLst/>
          </a:prstGeom>
          <a:solidFill>
            <a:srgbClr val="0A2030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94760" y="3063240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3127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CASE WHEN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77640" y="3502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Pre vs post-vaccination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251960"/>
            <a:ext cx="6537960" cy="685800"/>
          </a:xfrm>
          <a:prstGeom prst="rect">
            <a:avLst/>
          </a:prstGeom>
          <a:solidFill>
            <a:srgbClr val="0A2A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79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Full Project on GitHub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55371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B4D8"/>
                </a:solidFill>
              </a:rPr>
              <a:t>→  https://github.com/AnkitTopia/Covid-sql-analysis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5166360"/>
            <a:ext cx="150876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5166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MySQL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65960" y="5166360"/>
            <a:ext cx="150876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5166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Power BI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5166360"/>
            <a:ext cx="150876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5166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Advanced Excel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49240" y="5166360"/>
            <a:ext cx="150876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51663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Python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5806440"/>
            <a:ext cx="653796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5806440"/>
            <a:ext cx="6537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Open to Data Analyst  ·  Analytics Intern  ·  MIS Analyst roles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74320" y="6153912"/>
            <a:ext cx="6537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[ Ankit Topia]  ·  [ Delhi]  ·  [</a:t>
            </a:r>
            <a:r>
              <a:rPr lang="en-IN" sz="1000" b="0" i="0" dirty="0">
                <a:effectLst/>
                <a:latin typeface="-apple-system"/>
              </a:rPr>
              <a:t>www.linkedin.com/in/ankit-topia</a:t>
            </a:r>
            <a:r>
              <a:rPr lang="en-US" sz="1000" dirty="0">
                <a:solidFill>
                  <a:srgbClr val="0D1B2A"/>
                </a:solidFill>
              </a:rPr>
              <a:t>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464</Words>
  <Application>Microsoft Office PowerPoint</Application>
  <PresentationFormat>Custom</PresentationFormat>
  <Paragraphs>116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-apple-system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ANKIT TOPIA</cp:lastModifiedBy>
  <cp:revision>7</cp:revision>
  <dcterms:created xsi:type="dcterms:W3CDTF">2026-05-11T09:22:08Z</dcterms:created>
  <dcterms:modified xsi:type="dcterms:W3CDTF">2026-05-12T09:02:17Z</dcterms:modified>
</cp:coreProperties>
</file>